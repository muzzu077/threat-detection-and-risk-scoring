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0F0F0"/>
                </a:solidFill>
                <a:latin typeface="Consolas"/>
              </a:defRPr>
            </a:pPr>
            <a:r>
              <a:t>THREATPULSE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0A0"/>
                </a:solidFill>
                <a:latin typeface="Consolas"/>
              </a:defRPr>
            </a:pPr>
            <a:r>
              <a:t>AI-Powered Cyber Threat Detection &amp; Autonomous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566160"/>
            <a:ext cx="4876495" cy="25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onsolas"/>
              </a:defRPr>
            </a:pPr>
            <a:r>
              <a:t>Hackathon Project  |  18,000+ Lines of Code  |  Full-Stack SOC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Consolas"/>
              </a:defRPr>
            </a:pPr>
            <a:r>
              <a:t>Built with: FastAPI  +  React 19  +  LightGBM  +  TensorFlow  + 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onsolas"/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743200" cy="4572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F0F0"/>
                </a:solidFill>
                <a:latin typeface="Consolas"/>
              </a:defRPr>
            </a:pPr>
            <a:r>
              <a:t>Traditional signature-based security can't stop modern threats.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A0"/>
                </a:solidFill>
                <a:latin typeface="Consolas"/>
              </a:defRPr>
            </a:pPr>
            <a:r>
              <a:t>  Polymorphic &amp; fileless malware evade static signatures</a:t>
            </a:r>
          </a:p>
          <a:p>
            <a:pPr>
              <a:spcAft>
                <a:spcPts val="800"/>
              </a:spcAft>
              <a:defRPr sz="1500">
                <a:solidFill>
                  <a:srgbClr val="A0A0A0"/>
                </a:solidFill>
                <a:latin typeface="Consolas"/>
              </a:defRPr>
            </a:pPr>
            <a:r>
              <a:t>  Mean Time to Detect (MTTD): industry avg is 197 days</a:t>
            </a:r>
          </a:p>
          <a:p>
            <a:pPr>
              <a:spcAft>
                <a:spcPts val="800"/>
              </a:spcAft>
              <a:defRPr sz="1500">
                <a:solidFill>
                  <a:srgbClr val="A0A0A0"/>
                </a:solidFill>
                <a:latin typeface="Consolas"/>
              </a:defRPr>
            </a:pPr>
            <a:r>
              <a:t>  Mean Time to Respond (MTTR): industry avg is 69 days</a:t>
            </a:r>
          </a:p>
          <a:p>
            <a:pPr>
              <a:spcAft>
                <a:spcPts val="800"/>
              </a:spcAft>
              <a:defRPr sz="1500">
                <a:solidFill>
                  <a:srgbClr val="A0A0A0"/>
                </a:solidFill>
                <a:latin typeface="Consolas"/>
              </a:defRPr>
            </a:pPr>
            <a:r>
              <a:t>  SOC analysts face 11,000+ alerts/day — 75% are false positives</a:t>
            </a:r>
          </a:p>
          <a:p>
            <a:pPr>
              <a:spcAft>
                <a:spcPts val="800"/>
              </a:spcAft>
              <a:defRPr sz="1500">
                <a:solidFill>
                  <a:srgbClr val="A0A0A0"/>
                </a:solidFill>
                <a:latin typeface="Consolas"/>
              </a:defRPr>
            </a:pPr>
            <a:r>
              <a:t>  Enterprise SIEM solutions cost $15K-50K/year</a:t>
            </a:r>
          </a:p>
          <a:p>
            <a:pPr>
              <a:spcAft>
                <a:spcPts val="800"/>
              </a:spcAft>
              <a:defRPr sz="1500">
                <a:solidFill>
                  <a:srgbClr val="A0A0A0"/>
                </a:solidFill>
                <a:latin typeface="Consolas"/>
              </a:defRPr>
            </a:pPr>
            <a:r>
              <a:t>  99% of SMBs have ZERO real-time security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5720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B3ED"/>
                </a:solidFill>
                <a:latin typeface="Consolas"/>
              </a:defRPr>
            </a:pPr>
            <a:r>
              <a:t>CHALLENGE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A0A0A0"/>
                </a:solidFill>
                <a:latin typeface="Consolas"/>
              </a:defRPr>
            </a:pPr>
            <a:r>
              <a:t>  Detection Engine — ML model classifying traffic</a:t>
            </a:r>
          </a:p>
          <a:p>
            <a:pPr>
              <a:spcAft>
                <a:spcPts val="800"/>
              </a:spcAft>
              <a:defRPr sz="1300">
                <a:solidFill>
                  <a:srgbClr val="A0A0A0"/>
                </a:solidFill>
                <a:latin typeface="Consolas"/>
              </a:defRPr>
            </a:pPr>
            <a:r>
              <a:t>  Real-time Dashboard — live alerts &amp; severity levels</a:t>
            </a:r>
          </a:p>
          <a:p>
            <a:pPr>
              <a:spcAft>
                <a:spcPts val="800"/>
              </a:spcAft>
              <a:defRPr sz="1300">
                <a:solidFill>
                  <a:srgbClr val="A0A0A0"/>
                </a:solidFill>
                <a:latin typeface="Consolas"/>
              </a:defRPr>
            </a:pPr>
            <a:r>
              <a:t>  Response Script — automated countermeasures</a:t>
            </a:r>
          </a:p>
          <a:p>
            <a:pPr>
              <a:spcAft>
                <a:spcPts val="800"/>
              </a:spcAft>
              <a:defRPr sz="1300">
                <a:solidFill>
                  <a:srgbClr val="A0A0A0"/>
                </a:solidFill>
                <a:latin typeface="Consolas"/>
              </a:defRPr>
            </a:pPr>
            <a:r>
              <a:t>  UEBA — behavioral anomaly detection</a:t>
            </a:r>
          </a:p>
          <a:p>
            <a:pPr>
              <a:spcAft>
                <a:spcPts val="800"/>
              </a:spcAft>
              <a:defRPr sz="1300">
                <a:solidFill>
                  <a:srgbClr val="A0A0A0"/>
                </a:solidFill>
                <a:latin typeface="Consolas"/>
              </a:defRPr>
            </a:pPr>
            <a:r>
              <a:t>  Predictive Threat Intel — OSINT feeds</a:t>
            </a:r>
          </a:p>
          <a:p>
            <a:pPr>
              <a:spcAft>
                <a:spcPts val="800"/>
              </a:spcAft>
              <a:defRPr sz="1300">
                <a:solidFill>
                  <a:srgbClr val="A0A0A0"/>
                </a:solidFill>
                <a:latin typeface="Consolas"/>
              </a:defRPr>
            </a:pPr>
            <a:r>
              <a:t>  SOAR Playbooks — automated incident response</a:t>
            </a:r>
          </a:p>
          <a:p>
            <a:pPr>
              <a:spcAft>
                <a:spcPts val="800"/>
              </a:spcAft>
              <a:defRPr sz="1300">
                <a:solidFill>
                  <a:srgbClr val="A0A0A0"/>
                </a:solidFill>
                <a:latin typeface="Consolas"/>
              </a:defRPr>
            </a:pPr>
            <a:r>
              <a:t>  Explainable AI — analyst-friendly explanations</a:t>
            </a:r>
          </a:p>
          <a:p>
            <a:pPr>
              <a:spcAft>
                <a:spcPts val="800"/>
              </a:spcAft>
              <a:defRPr sz="1300">
                <a:solidFill>
                  <a:srgbClr val="A0A0A0"/>
                </a:solidFill>
                <a:latin typeface="Consolas"/>
              </a:defRPr>
            </a:pPr>
            <a:r>
              <a:t>  Adversarial Robustness — evasion resistance</a:t>
            </a:r>
          </a:p>
          <a:p>
            <a:pPr>
              <a:spcAft>
                <a:spcPts val="800"/>
              </a:spcAft>
              <a:defRPr sz="1300">
                <a:solidFill>
                  <a:srgbClr val="A0A0A0"/>
                </a:solidFill>
                <a:latin typeface="Consolas"/>
              </a:defRPr>
            </a:pPr>
            <a:r>
              <a:t>  Adaptability — continuous learning from feedback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onsolas"/>
              </a:defRPr>
            </a:pPr>
            <a:r>
              <a:t>SOLUTION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743200" cy="45720"/>
          </a:xfrm>
          <a:prstGeom prst="round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144000" cy="7315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B3ED"/>
                </a:solidFill>
                <a:latin typeface="Consolas"/>
              </a:defRPr>
            </a:pPr>
            <a:r>
              <a:t>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508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Log Files  |  SDK Events  |  DVWA Lab  |  CSV Upload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2194560"/>
            <a:ext cx="274320" cy="22860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2514600"/>
            <a:ext cx="9144000" cy="9144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8BB78"/>
                </a:solidFill>
                <a:latin typeface="Consolas"/>
              </a:defRPr>
            </a:pPr>
            <a:r>
              <a:t>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560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Watchdog File Watcher  |  REST API /ingest  |  WebSocket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3429000"/>
            <a:ext cx="274320" cy="22860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3749039"/>
            <a:ext cx="9144000" cy="9144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7947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A817"/>
                </a:solidFill>
                <a:latin typeface="Consolas"/>
              </a:defRPr>
            </a:pPr>
            <a:r>
              <a:t>ML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79475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TF Autoencoder + LightGBM + Rule Engine + UEBA + Context Analysis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43600" y="4663440"/>
            <a:ext cx="274320" cy="22860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371600" y="4983479"/>
            <a:ext cx="9144000" cy="9144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B79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50291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794F4"/>
                </a:solidFill>
                <a:latin typeface="Consolas"/>
              </a:defRPr>
            </a:pPr>
            <a:r>
              <a:t>THREAT INTEL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02919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AbuseIPDB  |  AlienVault OTX  |  VirusTotal  |  OSINT Feeds (1847+ IOCs)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43600" y="5897879"/>
            <a:ext cx="274320" cy="228600"/>
          </a:xfrm>
          <a:prstGeom prst="downArrow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71600" y="6217919"/>
            <a:ext cx="9144000" cy="9144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6263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Consolas"/>
              </a:defRPr>
            </a:pPr>
            <a:r>
              <a:t>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62636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15 SOAR Playbooks  |  IP Block  |  Account Disable  |  Rate Limit  |  Firewall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7452359"/>
            <a:ext cx="9144000" cy="9144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74980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onsolas"/>
              </a:defRPr>
            </a:pPr>
            <a:r>
              <a:t>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74980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Telegram Bot  |  WhatsApp (Twilio)  |  AI Summary (Gemini)  | 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onsolas"/>
              </a:defRPr>
            </a:pPr>
            <a:r>
              <a:t>ML DETECTION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743200" cy="4572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286000" cy="128016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onsolas"/>
              </a:defRPr>
            </a:pPr>
            <a: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8BB78"/>
                </a:solidFill>
                <a:latin typeface="Consolas"/>
              </a:defRPr>
            </a:pPr>
            <a:r>
              <a:t>97%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286000" cy="128016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onsolas"/>
              </a:defRPr>
            </a:pPr>
            <a:r>
              <a:t>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783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3B3ED"/>
                </a:solidFill>
                <a:latin typeface="Consolas"/>
              </a:defRPr>
            </a:pPr>
            <a:r>
              <a:t>97%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371600"/>
            <a:ext cx="2286000" cy="128016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onsolas"/>
              </a:defRPr>
            </a:pPr>
            <a: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783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A817"/>
                </a:solidFill>
                <a:latin typeface="Consolas"/>
              </a:defRPr>
            </a:pPr>
            <a:r>
              <a:t>97%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2286000" cy="128016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Consolas"/>
              </a:defRPr>
            </a:pPr>
            <a:r>
              <a:t>F1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78308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onsolas"/>
              </a:defRPr>
            </a:pPr>
            <a:r>
              <a:t>97%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5029200" cy="32004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8BB78"/>
                </a:solidFill>
                <a:latin typeface="Consolas"/>
              </a:defRPr>
            </a:pPr>
            <a:r>
              <a:t>MODEL 1: LightGBM Classifier (Supervised)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49039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  <a:latin typeface="Consolas"/>
              </a:defRPr>
            </a:pPr>
            <a:r>
              <a:t>  15 attack classes (OWASP Top 10 mapped)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  <a:latin typeface="Consolas"/>
              </a:defRPr>
            </a:pPr>
            <a:r>
              <a:t>  21 features per event (user, time, network, context)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  <a:latin typeface="Consolas"/>
              </a:defRPr>
            </a:pPr>
            <a:r>
              <a:t>  CIC-IDS2017 compatible feature engineering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  <a:latin typeface="Consolas"/>
              </a:defRPr>
            </a:pPr>
            <a:r>
              <a:t>  Trained on 10,000 labeled events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  <a:latin typeface="Consolas"/>
              </a:defRPr>
            </a:pPr>
            <a:r>
              <a:t>  Attack types: SQLi, XSS, RCE, Brute Force,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  <a:latin typeface="Consolas"/>
              </a:defRPr>
            </a:pPr>
            <a:r>
              <a:t>    Exfiltration, Port Scan, SSRF, DoS + more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17520"/>
            <a:ext cx="5029200" cy="320040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A817"/>
                </a:solidFill>
                <a:latin typeface="Consolas"/>
              </a:defRPr>
            </a:pPr>
            <a:r>
              <a:t>MODEL 2: TF Autoencoder (Unsupervised)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49039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  <a:latin typeface="Consolas"/>
              </a:defRPr>
            </a:pPr>
            <a:r>
              <a:t>  Zero-day detection via anomaly scoring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  <a:latin typeface="Consolas"/>
              </a:defRPr>
            </a:pPr>
            <a:r>
              <a:t>  Architecture: 21 -&gt; 16 -&gt; 8 -&gt; 4 -&gt; 8 -&gt; 16 -&gt; 21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  <a:latin typeface="Consolas"/>
              </a:defRPr>
            </a:pPr>
            <a:r>
              <a:t>  Reconstruction error = anomaly score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  <a:latin typeface="Consolas"/>
              </a:defRPr>
            </a:pPr>
            <a:r>
              <a:t>  Catches patterns NOT in training data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  <a:latin typeface="Consolas"/>
              </a:defRPr>
            </a:pPr>
            <a:r>
              <a:t>  Combined with rule-based heuristics</a:t>
            </a:r>
          </a:p>
          <a:p>
            <a:pPr>
              <a:spcAft>
                <a:spcPts val="800"/>
              </a:spcAft>
              <a:defRPr sz="1200">
                <a:solidFill>
                  <a:srgbClr val="A0A0A0"/>
                </a:solidFill>
                <a:latin typeface="Consolas"/>
              </a:defRPr>
            </a:pPr>
            <a:r>
              <a:t>  UEBA z-score behavioral analysis (8 anomaly types)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onsolas"/>
              </a:defRPr>
            </a:pPr>
            <a:r>
              <a:t>KEY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743200" cy="45720"/>
          </a:xfrm>
          <a:prstGeom prst="roundRect">
            <a:avLst/>
          </a:prstGeom>
          <a:solidFill>
            <a:srgbClr val="B79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00400" cy="16459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0"/>
                </a:solidFill>
                <a:latin typeface="Consolas"/>
              </a:defRPr>
            </a:pPr>
            <a:r>
              <a:t>REAL-TIME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onsolas"/>
              </a:defRPr>
            </a:pPr>
            <a:r>
              <a:t>13 React pages with WebSocket live feed,</a:t>
            </a:r>
            <a:br/>
            <a:r>
              <a:t>risk gauge, severity breakdown, geo-heatmap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200400" cy="16459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8BB78"/>
                </a:solidFill>
                <a:latin typeface="Consolas"/>
              </a:defRPr>
            </a:pPr>
            <a:r>
              <a:t>SOAR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874519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onsolas"/>
              </a:defRPr>
            </a:pPr>
            <a:r>
              <a:t>15 conditional playbooks — auto block IP,</a:t>
            </a:r>
            <a:br/>
            <a:r>
              <a:t>disable account, rate limit, WAF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200400" cy="16459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48132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B3ED"/>
                </a:solidFill>
                <a:latin typeface="Consolas"/>
              </a:defRPr>
            </a:pPr>
            <a:r>
              <a:t>THREAT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874519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onsolas"/>
              </a:defRPr>
            </a:pPr>
            <a:r>
              <a:t>4 sources: AbuseIPDB, OTX, VirusTotal,</a:t>
            </a:r>
            <a:br/>
            <a:r>
              <a:t>OSINT feeds (1,847+ IOCs loaded)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3200400" cy="16459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4015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A817"/>
                </a:solidFill>
                <a:latin typeface="Consolas"/>
              </a:defRPr>
            </a:pPr>
            <a:r>
              <a:t>UEBA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947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onsolas"/>
              </a:defRPr>
            </a:pPr>
            <a:r>
              <a:t>Per-user behavior baselines, 8 anomaly types</a:t>
            </a:r>
            <a:br/>
            <a:r>
              <a:t>impossible travel, unusual hours, new subnet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291840"/>
            <a:ext cx="3200400" cy="16459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B79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4015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794F4"/>
                </a:solidFill>
                <a:latin typeface="Consolas"/>
              </a:defRPr>
            </a:pPr>
            <a:r>
              <a:t>EXPLAINABLE AI (XAI)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7947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onsolas"/>
              </a:defRPr>
            </a:pPr>
            <a:r>
              <a:t>SHAP TreeExplainer shows top 10 features</a:t>
            </a:r>
            <a:br/>
            <a:r>
              <a:t>driving each prediction — no black boxes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291840"/>
            <a:ext cx="3200400" cy="16459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34015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E3E"/>
                </a:solidFill>
                <a:latin typeface="Consolas"/>
              </a:defRPr>
            </a:pPr>
            <a:r>
              <a:t>ADVERSARIAL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37947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onsolas"/>
              </a:defRPr>
            </a:pPr>
            <a:r>
              <a:t>5 evasion techniques tested: slow brute force,</a:t>
            </a:r>
            <a:br/>
            <a:r>
              <a:t>mimicry, IP rotation — 100% detection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onsolas"/>
              </a:defRPr>
            </a:pPr>
            <a:r>
              <a:t>WHAT MAKES US DIFFERENT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743200" cy="45720"/>
          </a:xfrm>
          <a:prstGeom prst="roundRect">
            <a:avLst/>
          </a:prstGeom>
          <a:solidFill>
            <a:srgbClr val="E6A8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10972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447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8BB78"/>
                </a:solidFill>
                <a:latin typeface="Consolas"/>
              </a:defRPr>
            </a:pPr>
            <a:r>
              <a:t>Triple ML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onsolas"/>
              </a:defRPr>
            </a:pPr>
            <a:r>
              <a:t>LightGBM + TF Autoencoder + Rule Engine — 3 layers of detection where most use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029200" cy="10972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4447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53E3E"/>
                </a:solidFill>
                <a:latin typeface="Consolas"/>
              </a:defRPr>
            </a:pPr>
            <a:r>
              <a:t>DVWA Attack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onsolas"/>
              </a:defRPr>
            </a:pPr>
            <a:r>
              <a:t>Real vulnerability exploitation (not synthetic) — 12 attack modules through Docker DVWA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97480"/>
            <a:ext cx="5029200" cy="10972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706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B3ED"/>
                </a:solidFill>
                <a:latin typeface="Consolas"/>
              </a:defRPr>
            </a:pPr>
            <a:r>
              <a:t>SDK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108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onsolas"/>
              </a:defRPr>
            </a:pPr>
            <a:r>
              <a:t>Zero-config Node.js + Python SDKs — one-line middleware for any web app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97480"/>
            <a:ext cx="5029200" cy="10972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B79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7706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794F4"/>
                </a:solidFill>
                <a:latin typeface="Consolas"/>
              </a:defRPr>
            </a:pPr>
            <a:r>
              <a:t>AI Incident Summaries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108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onsolas"/>
              </a:defRPr>
            </a:pPr>
            <a:r>
              <a:t>Gemini-powered natural language analysis explaining What/Why/Action for each alert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5029200" cy="10972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965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A817"/>
                </a:solidFill>
                <a:latin typeface="Consolas"/>
              </a:defRPr>
            </a:pPr>
            <a:r>
              <a:t>MITRE ATT&amp;CK 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onsolas"/>
              </a:defRPr>
            </a:pPr>
            <a:r>
              <a:t>Every detection mapped to MITRE technique IDs with tactics + mitigations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023360"/>
            <a:ext cx="5029200" cy="10972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0965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0F0F0"/>
                </a:solidFill>
                <a:latin typeface="Consolas"/>
              </a:defRPr>
            </a:pPr>
            <a:r>
              <a:t>Multi-Tenant SaaS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434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onsolas"/>
              </a:defRPr>
            </a:pPr>
            <a:r>
              <a:t>JWT auth, API keys, role-based access, tenant data isolation — deployable as a product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5029200" cy="10972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4223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8BB78"/>
                </a:solidFill>
                <a:latin typeface="Consolas"/>
              </a:defRPr>
            </a:pPr>
            <a:r>
              <a:t>Telegram + WhatsApp Alerts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7607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onsolas"/>
              </a:defRPr>
            </a:pPr>
            <a:r>
              <a:t>Interactive bot with inline buttons (Block IP, Run SOAR, View Details) + WhatsApp via Twilio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349240"/>
            <a:ext cx="5029200" cy="10972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54223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B3ED"/>
                </a:solidFill>
                <a:latin typeface="Consolas"/>
              </a:defRPr>
            </a:pPr>
            <a:r>
              <a:t>Attack Graph Visualization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76072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A0"/>
                </a:solidFill>
                <a:latin typeface="Consolas"/>
              </a:defRPr>
            </a:pPr>
            <a:r>
              <a:t>D3.js force-directed kill chain graphs showing IP -&gt; User -&gt; Resource attack paths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onsolas"/>
              </a:defRPr>
            </a:pPr>
            <a: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743200" cy="45720"/>
          </a:xfrm>
          <a:prstGeom prst="round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144000" cy="5029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B3ED"/>
                </a:solidFill>
                <a:latin typeface="Consolas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417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React 19, Vite, Recharts, D3.js, Framer Motion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9144000" cy="5029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8BB78"/>
                </a:solidFill>
                <a:latin typeface="Consolas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574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FastAPI, SQLAlchemy, Uvicorn, WebSockets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2651760"/>
            <a:ext cx="9144000" cy="5029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6974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A817"/>
                </a:solidFill>
                <a:latin typeface="Consolas"/>
              </a:defRPr>
            </a:pPr>
            <a:r>
              <a:t>ML /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974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LightGBM, TensorFlow, SHAP, scikit-learn, NetworkX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291839"/>
            <a:ext cx="9144000" cy="5029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3375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0"/>
                </a:solidFill>
                <a:latin typeface="Consolas"/>
              </a:defRPr>
            </a:pPr>
            <a: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33755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SQLite (dev) / PostgreSQL (prod), Redis (cache)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931920"/>
            <a:ext cx="9144000" cy="5029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3977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53E3E"/>
                </a:solidFill>
                <a:latin typeface="Consolas"/>
              </a:defRPr>
            </a:pPr>
            <a:r>
              <a:t>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9776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JWT, bcrypt, API Keys, RBAC, Multi-tenant isolation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572000"/>
            <a:ext cx="9144000" cy="5029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B79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794F4"/>
                </a:solidFill>
                <a:latin typeface="Consolas"/>
              </a:defRPr>
            </a:pPr>
            <a:r>
              <a:t>INTEGRATIONS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617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Telegram Bot API, Twilio (WhatsApp), OpenRouter (Gemini)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212079"/>
            <a:ext cx="9144000" cy="5029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52577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B3ED"/>
                </a:solidFill>
                <a:latin typeface="Consolas"/>
              </a:defRPr>
            </a:pPr>
            <a:r>
              <a:t>THREAT INTEL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25779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AbuseIPDB, AlienVault OTX, VirusTotal, OSINT feeds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5852159"/>
            <a:ext cx="9144000" cy="50292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58978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8BB78"/>
                </a:solidFill>
                <a:latin typeface="Consolas"/>
              </a:defRPr>
            </a:pPr>
            <a:r>
              <a:t>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8978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Docker Compose (6 services), DVWA Attack Lab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0F0F0"/>
                </a:solidFill>
                <a:latin typeface="Consolas"/>
              </a:defRPr>
            </a:pPr>
            <a:r>
              <a:t>BY THE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743200" cy="4572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468880" cy="146304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0"/>
                </a:solidFill>
                <a:latin typeface="Consolas"/>
              </a:defRPr>
            </a:pPr>
            <a:r>
              <a:t>18,000+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Lines of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371600"/>
            <a:ext cx="2468880" cy="146304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508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8BB78"/>
                </a:solidFill>
                <a:latin typeface="Consolas"/>
              </a:defRPr>
            </a:pPr>
            <a:r>
              <a:t>97%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ML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2468880" cy="146304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53E3E"/>
                </a:solidFill>
                <a:latin typeface="Consolas"/>
              </a:defRPr>
            </a:pPr>
            <a: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Attack Types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371600"/>
            <a:ext cx="2468880" cy="146304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508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B3ED"/>
                </a:solidFill>
                <a:latin typeface="Consolas"/>
              </a:defRPr>
            </a:pPr>
            <a:r>
              <a:t>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API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08960"/>
            <a:ext cx="2468880" cy="146304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46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A817"/>
                </a:solidFill>
                <a:latin typeface="Consolas"/>
              </a:defRPr>
            </a:pPr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SOAR Playbooks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3108960"/>
            <a:ext cx="2468880" cy="146304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B79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3246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794F4"/>
                </a:solidFill>
                <a:latin typeface="Consolas"/>
              </a:defRPr>
            </a:pPr>
            <a:r>
              <a:t>1,847+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OSINT Indicators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108960"/>
            <a:ext cx="2468880" cy="146304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246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8BB78"/>
                </a:solidFill>
                <a:latin typeface="Consolas"/>
              </a:defRPr>
            </a:pPr>
            <a:r>
              <a:t>&lt; 1s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SOAR Response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3108960"/>
            <a:ext cx="2468880" cy="146304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3246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A817"/>
                </a:solidFill>
                <a:latin typeface="Consolas"/>
              </a:defRPr>
            </a:pPr>
            <a:r>
              <a:t>&lt; 10s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Detection (MTTD)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846320"/>
            <a:ext cx="2468880" cy="146304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9834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0F0F0"/>
                </a:solidFill>
                <a:latin typeface="Consolas"/>
              </a:defRPr>
            </a:pPr>
            <a: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Adversarial Robustness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4846320"/>
            <a:ext cx="2468880" cy="146304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0" y="49834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B3ED"/>
                </a:solidFill>
                <a:latin typeface="Consolas"/>
              </a:defRPr>
            </a:pPr>
            <a:r>
              <a:t>13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Dashboard Pages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846320"/>
            <a:ext cx="2468880" cy="146304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B79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9834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B794F4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Threat Intel Sources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4846320"/>
            <a:ext cx="2468880" cy="146304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0" y="49834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A0A0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55555"/>
                </a:solidFill>
                <a:latin typeface="Consolas"/>
              </a:defRPr>
            </a:pPr>
            <a:r>
              <a:t>SDK Languages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F0F0"/>
                </a:solidFill>
                <a:latin typeface="Consolas"/>
              </a:defRPr>
            </a:pPr>
            <a:r>
              <a:t>EVALUATION CRITERIA — HOW WE SCORE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2743200" cy="4572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8686800" cy="105156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44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8BB78"/>
                </a:solidFill>
                <a:latin typeface="Consolas"/>
              </a:defRPr>
            </a:pPr>
            <a:r>
              <a:t>Detection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97% precision &amp; recall across 15 attack types. FP rate tracked per class with analyst feedback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0" y="1508760"/>
            <a:ext cx="1371600" cy="777240"/>
          </a:xfrm>
          <a:prstGeom prst="roundRect">
            <a:avLst/>
          </a:prstGeom>
          <a:solidFill>
            <a:srgbClr val="48BB78"/>
          </a:solidFill>
          <a:ln w="12700"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0" y="15544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Consolas"/>
              </a:defRPr>
            </a:pPr>
            <a:r>
              <a:t>97%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8686800" cy="105156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24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B3ED"/>
                </a:solidFill>
                <a:latin typeface="Consolas"/>
              </a:defRPr>
            </a:pPr>
            <a:r>
              <a:t>Speed of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SOAR playbooks execute in &lt; 1 second. MTTD &lt; 10 seconds. WebSocket live feed with 2s polling.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875520" y="2788920"/>
            <a:ext cx="1371600" cy="777240"/>
          </a:xfrm>
          <a:prstGeom prst="roundRect">
            <a:avLst/>
          </a:prstGeom>
          <a:solidFill>
            <a:srgbClr val="63B3ED"/>
          </a:solidFill>
          <a:ln w="12700">
            <a:solidFill>
              <a:srgbClr val="63B3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28346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Consolas"/>
              </a:defRPr>
            </a:pPr>
            <a:r>
              <a:t>&lt; 1s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8686800" cy="105156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05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A817"/>
                </a:solidFill>
                <a:latin typeface="Consolas"/>
              </a:defRPr>
            </a:pPr>
            <a:r>
              <a:t>Adversarial Robustness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5 evasion techniques tested (slow brute force, mimicry, IP rotation, encoding). 100% detection rate.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4069080"/>
            <a:ext cx="1371600" cy="777240"/>
          </a:xfrm>
          <a:prstGeom prst="roundRect">
            <a:avLst/>
          </a:prstGeom>
          <a:solidFill>
            <a:srgbClr val="E6A817"/>
          </a:solidFill>
          <a:ln w="12700">
            <a:solidFill>
              <a:srgbClr val="E6A8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0" y="41148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Consolas"/>
              </a:defRPr>
            </a:pPr>
            <a:r>
              <a:t>100%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79"/>
            <a:ext cx="8686800" cy="105156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B79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28523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794F4"/>
                </a:solidFill>
                <a:latin typeface="Consolas"/>
              </a:defRPr>
            </a:pPr>
            <a:r>
              <a:t>Adaptability &amp;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62355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A0"/>
                </a:solidFill>
                <a:latin typeface="Consolas"/>
              </a:defRPr>
            </a:pPr>
            <a:r>
              <a:t>Analyst feedback loop tracks drift. Auto-retraining recommended when FP &gt; 15%. UEBA baselines adapt per-user.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0" y="5349240"/>
            <a:ext cx="1371600" cy="777240"/>
          </a:xfrm>
          <a:prstGeom prst="roundRect">
            <a:avLst/>
          </a:prstGeom>
          <a:solidFill>
            <a:srgbClr val="B794F4"/>
          </a:solidFill>
          <a:ln w="12700">
            <a:solidFill>
              <a:srgbClr val="B79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5394959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Consolas"/>
              </a:defRPr>
            </a:pPr>
            <a:r>
              <a:t>AUTO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0F0F0"/>
                </a:solidFill>
                <a:latin typeface="Consolas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017520"/>
            <a:ext cx="4876495" cy="25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Consolas"/>
              </a:defRPr>
            </a:pPr>
            <a:r>
              <a:t>Dashboard:  http://localhost:5173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Consolas"/>
              </a:defRPr>
            </a:pPr>
            <a:r>
              <a:t>Login:  demo@threatpulse.com  /  ThreatPulse2025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Consolas"/>
              </a:defRPr>
            </a:pPr>
            <a:r>
              <a:t>API Docs:  http://localhost:8000/docs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55555"/>
                </a:solidFill>
                <a:latin typeface="Consolas"/>
              </a:defRPr>
            </a:pPr>
            <a:r>
              <a:t>powershell .\start_all.ps1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0F0F0"/>
                </a:solidFill>
                <a:latin typeface="Consolas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017520"/>
            <a:ext cx="4876495" cy="254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A0"/>
                </a:solidFill>
                <a:latin typeface="Consolas"/>
              </a:defRPr>
            </a:pPr>
            <a:r>
              <a:t>ThreatPulse — AI-Powered Cyber Defense for Everyone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0F0F0"/>
                </a:solidFill>
                <a:latin typeface="Consolas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